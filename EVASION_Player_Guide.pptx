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081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-274320"/>
            <a:ext cx="4023360" cy="4023360"/>
          </a:xfrm>
          <a:prstGeom prst="ellipse">
            <a:avLst/>
          </a:prstGeom>
          <a:solidFill>
            <a:srgbClr val="007A55">
              <a:alpha val="12000"/>
            </a:srgbClr>
          </a:solidFill>
          <a:ln w="12700">
            <a:solidFill>
              <a:srgbClr val="00FFB4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56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 dirty="0">
                <a:solidFill>
                  <a:srgbClr val="00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 GUIDE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5943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kern="0" spc="1400" dirty="0">
                <a:solidFill>
                  <a:srgbClr val="00F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EVASION</a:t>
            </a:r>
            <a:endParaRPr lang="en-US" sz="8800" dirty="0"/>
          </a:p>
        </p:txBody>
      </p:sp>
      <p:sp>
        <p:nvSpPr>
          <p:cNvPr id="12" name="Text 10"/>
          <p:cNvSpPr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1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생존 프로토콜 — 신규 플레이어 가이드 //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283464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834640"/>
            <a:ext cx="411480" cy="457200"/>
          </a:xfrm>
          <a:prstGeom prst="roundRect">
            <a:avLst>
              <a:gd name="adj" fmla="val 8889"/>
            </a:avLst>
          </a:prstGeom>
          <a:solidFill>
            <a:srgbClr val="00FFB4">
              <a:alpha val="30000"/>
            </a:srgbClr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29260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 소개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283464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2834640"/>
            <a:ext cx="411480" cy="457200"/>
          </a:xfrm>
          <a:prstGeom prst="roundRect">
            <a:avLst>
              <a:gd name="adj" fmla="val 8889"/>
            </a:avLst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86200" y="29260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조작 방법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283464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2834640"/>
            <a:ext cx="411480" cy="457200"/>
          </a:xfrm>
          <a:prstGeom prst="roundRect">
            <a:avLst>
              <a:gd name="adj" fmla="val 8889"/>
            </a:avLst>
          </a:prstGeom>
          <a:solidFill>
            <a:srgbClr val="FF9000">
              <a:alpha val="3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28346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29260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기본 규칙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3401568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3401568"/>
            <a:ext cx="411480" cy="457200"/>
          </a:xfrm>
          <a:prstGeom prst="roundRect">
            <a:avLst>
              <a:gd name="adj" fmla="val 8889"/>
            </a:avLst>
          </a:prstGeom>
          <a:solidFill>
            <a:srgbClr val="7C4DFF">
              <a:alpha val="3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4015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34930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특수 이벤트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3401568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0" y="3401568"/>
            <a:ext cx="411480" cy="457200"/>
          </a:xfrm>
          <a:prstGeom prst="roundRect">
            <a:avLst>
              <a:gd name="adj" fmla="val 8889"/>
            </a:avLst>
          </a:prstGeom>
          <a:solidFill>
            <a:srgbClr val="FF9000">
              <a:alpha val="3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4015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886200" y="34930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난이도 선택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3401568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0" y="3401568"/>
            <a:ext cx="411480" cy="457200"/>
          </a:xfrm>
          <a:prstGeom prst="roundRect">
            <a:avLst>
              <a:gd name="adj" fmla="val 8889"/>
            </a:avLst>
          </a:prstGeom>
          <a:solidFill>
            <a:srgbClr val="00CC80">
              <a:alpha val="30000"/>
            </a:srgbClr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34015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46520" y="34930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생존 전략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F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게임 소개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사방에서 날아오는 장애물을 피해 최대한 오래 생존하는 2D 아케이드 슈팅 게임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123444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0D0D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1325880"/>
            <a:ext cx="594360" cy="594360"/>
          </a:xfrm>
          <a:prstGeom prst="ellipse">
            <a:avLst/>
          </a:prstGeom>
          <a:solidFill>
            <a:srgbClr val="00FFB4">
              <a:alpha val="25000"/>
            </a:srgbClr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TIME</a:t>
            </a:r>
          </a:p>
        </p:txBody>
      </p:sp>
      <p:sp>
        <p:nvSpPr>
          <p:cNvPr id="15" name="Text 13"/>
          <p:cNvSpPr/>
          <p:nvPr/>
        </p:nvSpPr>
        <p:spPr>
          <a:xfrm>
            <a:off x="566928" y="20299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생존 시간 = 점수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239572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오래 살아남을수록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점수가 쌓입니다.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레벨이 높을수록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 배율 상승!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91840" y="123444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0D0D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325880"/>
            <a:ext cx="594360" cy="594360"/>
          </a:xfrm>
          <a:prstGeom prst="ellipse">
            <a:avLst/>
          </a:prstGeom>
          <a:solidFill>
            <a:srgbClr val="FF9000">
              <a:alpha val="25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HIT</a:t>
            </a:r>
          </a:p>
        </p:txBody>
      </p:sp>
      <p:sp>
        <p:nvSpPr>
          <p:cNvPr id="20" name="Text 18"/>
          <p:cNvSpPr/>
          <p:nvPr/>
        </p:nvSpPr>
        <p:spPr>
          <a:xfrm>
            <a:off x="3401568" y="20299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장애물 회피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01568" y="239572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상하좌우 대각선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방향에서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장애물이 날아옵니다.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5번 맞으면 종료!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0" y="123444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0D0D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1325880"/>
            <a:ext cx="594360" cy="594360"/>
          </a:xfrm>
          <a:prstGeom prst="ellipse">
            <a:avLst/>
          </a:prstGeom>
          <a:solidFill>
            <a:srgbClr val="7C4DFF">
              <a:alpha val="25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TOP</a:t>
            </a:r>
          </a:p>
        </p:txBody>
      </p:sp>
      <p:sp>
        <p:nvSpPr>
          <p:cNvPr id="25" name="Text 23"/>
          <p:cNvSpPr/>
          <p:nvPr/>
        </p:nvSpPr>
        <p:spPr>
          <a:xfrm>
            <a:off x="6236208" y="20299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리더보드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36208" y="239572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오버 시 기록이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저장됩니다.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10위까지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순위가 기록됩니다!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4005072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0A0A20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13308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00F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[목표]  최대한 오래 살아남아 최고 스코어를 달성하고 리더보드 1위를 차지하세요!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조작 방법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841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키보드 컨트롤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00200" y="1225296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01A10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12984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16276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F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14400" y="192024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01A10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9933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23225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F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00200" y="192024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01A10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19933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08760" y="23225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F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0" y="192024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01A10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19933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194560" y="23225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F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669576" y="1225296"/>
            <a:ext cx="1554184" cy="594360"/>
          </a:xfrm>
          <a:prstGeom prst="roundRect">
            <a:avLst>
              <a:gd name="adj" fmla="val 9231"/>
            </a:avLst>
          </a:prstGeom>
          <a:solidFill>
            <a:srgbClr val="0D0D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6766" y="1225296"/>
            <a:ext cx="3885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122100" y="1389888"/>
            <a:ext cx="10102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왼쪽으로 이동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82879" y="2756213"/>
            <a:ext cx="4261757" cy="530352"/>
          </a:xfrm>
          <a:prstGeom prst="roundRect">
            <a:avLst>
              <a:gd name="adj" fmla="val 10345"/>
            </a:avLst>
          </a:prstGeom>
          <a:solidFill>
            <a:srgbClr val="001510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884229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F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[TIP]  두 방향키를 동시에 누르면 대각선 이동이 가능합니다!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26145" y="841248"/>
            <a:ext cx="1366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이동 핵심 원칙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267596" y="1225296"/>
            <a:ext cx="3419204" cy="841248"/>
          </a:xfrm>
          <a:prstGeom prst="roundRect">
            <a:avLst>
              <a:gd name="adj" fmla="val 6522"/>
            </a:avLst>
          </a:prstGeom>
          <a:solidFill>
            <a:srgbClr val="0D0D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39978" y="1407282"/>
            <a:ext cx="404088" cy="475488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39978" y="1407282"/>
            <a:ext cx="4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MOVE</a:t>
            </a:r>
          </a:p>
        </p:txBody>
      </p:sp>
      <p:sp>
        <p:nvSpPr>
          <p:cNvPr id="42" name="Text 40"/>
          <p:cNvSpPr/>
          <p:nvPr/>
        </p:nvSpPr>
        <p:spPr>
          <a:xfrm>
            <a:off x="5834404" y="1298448"/>
            <a:ext cx="2797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끊임없이 움직여라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34404" y="1572768"/>
            <a:ext cx="27975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멈춰 있으면 표적이 됩니다.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항상 이동하며 장애물을 피하세요.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267596" y="2212848"/>
            <a:ext cx="3419204" cy="841248"/>
          </a:xfrm>
          <a:prstGeom prst="roundRect">
            <a:avLst>
              <a:gd name="adj" fmla="val 6522"/>
            </a:avLst>
          </a:prstGeom>
          <a:solidFill>
            <a:srgbClr val="0D0D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39978" y="2394834"/>
            <a:ext cx="404088" cy="475488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39978" y="2394834"/>
            <a:ext cx="4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ZONE</a:t>
            </a:r>
          </a:p>
        </p:txBody>
      </p:sp>
      <p:sp>
        <p:nvSpPr>
          <p:cNvPr id="47" name="Text 45"/>
          <p:cNvSpPr/>
          <p:nvPr/>
        </p:nvSpPr>
        <p:spPr>
          <a:xfrm>
            <a:off x="5834404" y="2286000"/>
            <a:ext cx="2797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모서리를 피하라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34404" y="2560320"/>
            <a:ext cx="27975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코너에 몰리면 탈출로가 없어집니다.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중앙~중간 영역을 유지하세요.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267596" y="3200400"/>
            <a:ext cx="3419204" cy="841248"/>
          </a:xfrm>
          <a:prstGeom prst="roundRect">
            <a:avLst>
              <a:gd name="adj" fmla="val 6522"/>
            </a:avLst>
          </a:prstGeom>
          <a:solidFill>
            <a:srgbClr val="0D0D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39978" y="3382386"/>
            <a:ext cx="404088" cy="475488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39978" y="3382386"/>
            <a:ext cx="404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VIEW</a:t>
            </a:r>
          </a:p>
        </p:txBody>
      </p:sp>
      <p:sp>
        <p:nvSpPr>
          <p:cNvPr id="52" name="Text 50"/>
          <p:cNvSpPr/>
          <p:nvPr/>
        </p:nvSpPr>
        <p:spPr>
          <a:xfrm>
            <a:off x="5834404" y="3273552"/>
            <a:ext cx="2797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화면을 봐라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834404" y="3547872"/>
            <a:ext cx="27975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곳만 보지 말고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4방향 장애물을 동시에 파악하세요.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4164932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1A0500"/>
          </a:solidFill>
          <a:ln w="12700">
            <a:solidFill>
              <a:srgbClr val="FF4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429294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8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[주의]  마우스/터치 조작은 지원하지 않습니다. 반드시 키보드 방향키를 사용하세요!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9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기본 규칙 &amp; 화면 구성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HUD (화면 정보)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115568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0D0D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115568"/>
            <a:ext cx="1188720" cy="420624"/>
          </a:xfrm>
          <a:prstGeom prst="roundRect">
            <a:avLst>
              <a:gd name="adj" fmla="val 8696"/>
            </a:avLst>
          </a:prstGeom>
          <a:solidFill>
            <a:srgbClr val="00FFB4">
              <a:alpha val="22000"/>
            </a:srgbClr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11887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37360" y="12070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생존 시간 × 레벨 배율로 계산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600200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0D0D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600200"/>
            <a:ext cx="1188720" cy="420624"/>
          </a:xfrm>
          <a:prstGeom prst="roundRect">
            <a:avLst>
              <a:gd name="adj" fmla="val 8696"/>
            </a:avLst>
          </a:prstGeom>
          <a:solidFill>
            <a:srgbClr val="FF2060">
              <a:alpha val="22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167335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 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37360" y="1691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라이프. 0이 되면 게임 오버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084832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0D0D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084832"/>
            <a:ext cx="1188720" cy="420624"/>
          </a:xfrm>
          <a:prstGeom prst="roundRect">
            <a:avLst>
              <a:gd name="adj" fmla="val 8696"/>
            </a:avLst>
          </a:prstGeom>
          <a:solidFill>
            <a:srgbClr val="00E5FF">
              <a:alpha val="22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215798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737360" y="21762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생존 시간 (초 단위)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569464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0D0D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569464"/>
            <a:ext cx="1188720" cy="420624"/>
          </a:xfrm>
          <a:prstGeom prst="roundRect">
            <a:avLst>
              <a:gd name="adj" fmla="val 8696"/>
            </a:avLst>
          </a:prstGeom>
          <a:solidFill>
            <a:srgbClr val="FF9000">
              <a:alpha val="22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2642616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737360" y="266090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경과에 따라 자동 상승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054096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0D0D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054096"/>
            <a:ext cx="1188720" cy="420624"/>
          </a:xfrm>
          <a:prstGeom prst="roundRect">
            <a:avLst>
              <a:gd name="adj" fmla="val 8696"/>
            </a:avLst>
          </a:prstGeom>
          <a:solidFill>
            <a:srgbClr val="7C4DFF">
              <a:alpha val="22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" y="312724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37360" y="314553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세션의 최고 기록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538728"/>
            <a:ext cx="4023360" cy="420624"/>
          </a:xfrm>
          <a:prstGeom prst="roundRect">
            <a:avLst>
              <a:gd name="adj" fmla="val 13043"/>
            </a:avLst>
          </a:prstGeom>
          <a:solidFill>
            <a:srgbClr val="0D0D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538728"/>
            <a:ext cx="1188720" cy="420624"/>
          </a:xfrm>
          <a:prstGeom prst="roundRect">
            <a:avLst>
              <a:gd name="adj" fmla="val 8696"/>
            </a:avLst>
          </a:prstGeom>
          <a:solidFill>
            <a:srgbClr val="FF9000">
              <a:alpha val="22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" y="361188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DIFFICULTY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737360" y="363016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선택한 난이도 표시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777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핵심 규칙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54880" y="1115568"/>
            <a:ext cx="3931920" cy="896112"/>
          </a:xfrm>
          <a:prstGeom prst="roundRect">
            <a:avLst>
              <a:gd name="adj" fmla="val 6122"/>
            </a:avLst>
          </a:prstGeom>
          <a:solidFill>
            <a:srgbClr val="0D0D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1115568"/>
            <a:ext cx="502920" cy="896112"/>
          </a:xfrm>
          <a:prstGeom prst="roundRect">
            <a:avLst>
              <a:gd name="adj" fmla="val 7273"/>
            </a:avLst>
          </a:prstGeom>
          <a:solidFill>
            <a:srgbClr val="FF2060">
              <a:alpha val="20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1115568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49240" y="11704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라이프 시스템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49240" y="1444752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장애물에 맞으면 라이프 1개 감소.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 후 약 1.8초간 무적 상태가 됩니다.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(EASY/HARD = 5개, EXTREME = 3개)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2139696"/>
            <a:ext cx="3931920" cy="896112"/>
          </a:xfrm>
          <a:prstGeom prst="roundRect">
            <a:avLst>
              <a:gd name="adj" fmla="val 6122"/>
            </a:avLst>
          </a:prstGeom>
          <a:solidFill>
            <a:srgbClr val="0D0D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2139696"/>
            <a:ext cx="502920" cy="896112"/>
          </a:xfrm>
          <a:prstGeom prst="roundRect">
            <a:avLst>
              <a:gd name="adj" fmla="val 7273"/>
            </a:avLst>
          </a:prstGeom>
          <a:solidFill>
            <a:srgbClr val="FF9000">
              <a:alpha val="2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2139696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49240" y="21945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 자동 상승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49240" y="246888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시간이 지나면 레벨이 올라가고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속도·수량·유도성이 강해집니다.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레벨이 높을수록 점수 배율도 상승합니다.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54880" y="3163824"/>
            <a:ext cx="3931920" cy="896112"/>
          </a:xfrm>
          <a:prstGeom prst="roundRect">
            <a:avLst>
              <a:gd name="adj" fmla="val 6122"/>
            </a:avLst>
          </a:prstGeom>
          <a:solidFill>
            <a:srgbClr val="0D0D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3163824"/>
            <a:ext cx="502920" cy="896112"/>
          </a:xfrm>
          <a:prstGeom prst="roundRect">
            <a:avLst>
              <a:gd name="adj" fmla="val 7273"/>
            </a:avLst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3163824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349240" y="321868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무적 타이머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49240" y="349300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피격 직후 캐릭터가 깜빡입니다.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시간 동안은 장애물에 닿아도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데미지를 받지 않습니다.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57200" y="4138452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001510"/>
          </a:solidFill>
          <a:ln w="12700">
            <a:solidFill>
              <a:srgbClr val="007A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42664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F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[TIP]  무적 시간을 활용해 위험한 상황에서 빠르게 탈출하는 것이 생존의 핵심입니다!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7C4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특수 이벤트 시스템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57200" y="749808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0A0015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84124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[이벤트]  10초마다 아래 3가지 이벤트 중 하나가 랜덤으로 발생합니다  —  경고 배너가 뜨면 즉시 대피!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261872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261872"/>
            <a:ext cx="2697480" cy="73152"/>
          </a:xfrm>
          <a:prstGeom prst="roundRect">
            <a:avLst>
              <a:gd name="adj" fmla="val 50000"/>
            </a:avLst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1389888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FF9000">
              <a:alpha val="2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389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18470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" y="26334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파편 폭격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294436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!! BARRAGE INCOMING !!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32186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한 면에서 20개 이상의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파편이 일렬로 쏟아집니다.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3824874"/>
            <a:ext cx="2478024" cy="685800"/>
          </a:xfrm>
          <a:prstGeom prst="roundRect">
            <a:avLst>
              <a:gd name="adj" fmla="val 5333"/>
            </a:avLst>
          </a:prstGeom>
          <a:solidFill>
            <a:srgbClr val="00CC80">
              <a:alpha val="12000"/>
            </a:srgbClr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40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1792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반대 방향 벽 쪽으로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 이동해 피하세요!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10128" y="1261872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0128" y="1261872"/>
            <a:ext cx="2697480" cy="73152"/>
          </a:xfrm>
          <a:prstGeom prst="roundRect">
            <a:avLst>
              <a:gd name="adj" fmla="val 50000"/>
            </a:avLst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93008" y="1389888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FF2060">
              <a:alpha val="20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1389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METEOR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15968" y="18470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401568" y="26334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대형 운석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401568" y="294436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!! METEOR ALERT !!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47288" y="32186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초대형 운석이 플레이어를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향해 천천히 유도됩니다.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419856" y="3818480"/>
            <a:ext cx="2478024" cy="685800"/>
          </a:xfrm>
          <a:prstGeom prst="roundRect">
            <a:avLst>
              <a:gd name="adj" fmla="val 5333"/>
            </a:avLst>
          </a:prstGeom>
          <a:solidFill>
            <a:srgbClr val="00CC80">
              <a:alpha val="12000"/>
            </a:srgbClr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93008" y="3840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74720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직선으로 도망치지 말고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수직 방향으로 꺾어 피하세요!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63056" y="1261872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1111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63056" y="1261872"/>
            <a:ext cx="2697480" cy="73152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5936" y="1389888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7C4DFF">
              <a:alpha val="2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1389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68896" y="184708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254496" y="26334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8방향 파편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254496" y="294436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!! SCATTER INCOMING !!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00216" y="32186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파편이 화면 모든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방향에서 동시에 날아옵니다.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72784" y="3824874"/>
            <a:ext cx="2478024" cy="685800"/>
          </a:xfrm>
          <a:prstGeom prst="roundRect">
            <a:avLst>
              <a:gd name="adj" fmla="val 5333"/>
            </a:avLst>
          </a:prstGeom>
          <a:solidFill>
            <a:srgbClr val="00CC80">
              <a:alpha val="12000"/>
            </a:srgbClr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45936" y="3840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27648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중앙을 피하고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파편 사이 빈틈을 찾으세요!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4773168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00152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48463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[BONUS EVENT]  |  GAMMA RAY 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017520" y="4846320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70초 생존 후 20초마다 수평 또는 수직 감마 레이저 발사! 경고 점선이 표시되면 즉시 반대편으로 이동하세요.</a:t>
            </a:r>
            <a:endParaRPr lang="en-US" sz="1100" dirty="0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71BFA9C4-3ADD-4FC2-97A8-CC354EFF7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766" y="1861895"/>
            <a:ext cx="821359" cy="72854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B39F8741-BA4F-4B23-84C1-DA5C1C960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418" y="1850769"/>
            <a:ext cx="914265" cy="720981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61E75635-82F0-47BE-8FA1-110CD90237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754" y="1848016"/>
            <a:ext cx="961512" cy="7450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9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난이도 선택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57200" y="804672"/>
            <a:ext cx="2697480" cy="4133088"/>
          </a:xfrm>
          <a:prstGeom prst="roundRect">
            <a:avLst>
              <a:gd name="adj" fmla="val 2712"/>
            </a:avLst>
          </a:prstGeom>
          <a:solidFill>
            <a:srgbClr val="11111A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804672"/>
            <a:ext cx="2697480" cy="73152"/>
          </a:xfrm>
          <a:prstGeom prst="roundRect">
            <a:avLst>
              <a:gd name="adj" fmla="val 50000"/>
            </a:avLst>
          </a:prstGeom>
          <a:solidFill>
            <a:srgbClr val="00CC80"/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89611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00CC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EASY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12984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쉬움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1609344"/>
            <a:ext cx="2423160" cy="292608"/>
          </a:xfrm>
          <a:prstGeom prst="roundRect">
            <a:avLst>
              <a:gd name="adj" fmla="val 12500"/>
            </a:avLst>
          </a:prstGeom>
          <a:solidFill>
            <a:srgbClr val="00CC80">
              <a:alpha val="16000"/>
            </a:srgbClr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6093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        ( 5개 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2011680"/>
            <a:ext cx="2478024" cy="301752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066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속도 × 0.70  (느림)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2359152"/>
            <a:ext cx="2478024" cy="301752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24140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스폰량 × 0.65  (적음)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706624"/>
            <a:ext cx="2478024" cy="301752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유도성 × 0.55  (약함)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3054096"/>
            <a:ext cx="2478024" cy="301752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108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레벨업  16초마다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" y="3401568"/>
            <a:ext cx="2478024" cy="301752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4564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 배율  × 0.7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6928" y="3794760"/>
            <a:ext cx="2478024" cy="502920"/>
          </a:xfrm>
          <a:prstGeom prst="roundRect">
            <a:avLst>
              <a:gd name="adj" fmla="val 7273"/>
            </a:avLst>
          </a:prstGeom>
          <a:solidFill>
            <a:srgbClr val="00CC80">
              <a:alpha val="12000"/>
            </a:srgbClr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82219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처음 플레이하는 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게임에 익숙해지고 싶은 분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4425696"/>
            <a:ext cx="2478024" cy="274320"/>
          </a:xfrm>
          <a:prstGeom prst="roundRect">
            <a:avLst>
              <a:gd name="adj" fmla="val 13333"/>
            </a:avLst>
          </a:prstGeom>
          <a:solidFill>
            <a:srgbClr val="00CC80">
              <a:alpha val="25000"/>
            </a:srgbClr>
          </a:solidFill>
          <a:ln w="12700">
            <a:solidFill>
              <a:srgbClr val="00CC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425696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C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RECOMMENDED FOR BEGINNERS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310128" y="804672"/>
            <a:ext cx="2697480" cy="4133088"/>
          </a:xfrm>
          <a:prstGeom prst="roundRect">
            <a:avLst>
              <a:gd name="adj" fmla="val 2712"/>
            </a:avLst>
          </a:prstGeom>
          <a:solidFill>
            <a:srgbClr val="1111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10128" y="804672"/>
            <a:ext cx="2697480" cy="73152"/>
          </a:xfrm>
          <a:prstGeom prst="roundRect">
            <a:avLst>
              <a:gd name="adj" fmla="val 50000"/>
            </a:avLst>
          </a:prstGeom>
          <a:solidFill>
            <a:srgbClr val="FF9000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89611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F9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310128" y="12984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어려움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447288" y="1609344"/>
            <a:ext cx="2423160" cy="292608"/>
          </a:xfrm>
          <a:prstGeom prst="roundRect">
            <a:avLst>
              <a:gd name="adj" fmla="val 12500"/>
            </a:avLst>
          </a:prstGeom>
          <a:solidFill>
            <a:srgbClr val="FF9000">
              <a:alpha val="16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47288" y="16093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        ( 5개 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19856" y="2011680"/>
            <a:ext cx="2478024" cy="301752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2066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속도 × 1.00  (기본)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19856" y="2359152"/>
            <a:ext cx="2478024" cy="301752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24140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스폰량 × 1.00  (보통)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419856" y="2706624"/>
            <a:ext cx="2478024" cy="301752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유도성 × 1.00  (보통)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19856" y="3054096"/>
            <a:ext cx="2478024" cy="301752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0" y="3108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레벨업  12초마다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419856" y="3401568"/>
            <a:ext cx="2478024" cy="301752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0" y="34564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 배율  × 1.0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419856" y="3794760"/>
            <a:ext cx="2478024" cy="502920"/>
          </a:xfrm>
          <a:prstGeom prst="roundRect">
            <a:avLst>
              <a:gd name="adj" fmla="val 7273"/>
            </a:avLst>
          </a:prstGeom>
          <a:solidFill>
            <a:srgbClr val="FF9000">
              <a:alpha val="12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0" y="382219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기본 도전을 원하는 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균형잡힌 게임을 원하는 분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419856" y="4425696"/>
            <a:ext cx="2478024" cy="274320"/>
          </a:xfrm>
          <a:prstGeom prst="roundRect">
            <a:avLst>
              <a:gd name="adj" fmla="val 13333"/>
            </a:avLst>
          </a:prstGeom>
          <a:solidFill>
            <a:srgbClr val="FF9000">
              <a:alpha val="25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19856" y="4425696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BALANCE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163056" y="804672"/>
            <a:ext cx="2697480" cy="4133088"/>
          </a:xfrm>
          <a:prstGeom prst="roundRect">
            <a:avLst>
              <a:gd name="adj" fmla="val 2712"/>
            </a:avLst>
          </a:prstGeom>
          <a:solidFill>
            <a:srgbClr val="1111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63056" y="804672"/>
            <a:ext cx="2697480" cy="73152"/>
          </a:xfrm>
          <a:prstGeom prst="roundRect">
            <a:avLst>
              <a:gd name="adj" fmla="val 50000"/>
            </a:avLst>
          </a:prstGeom>
          <a:solidFill>
            <a:srgbClr val="FF2060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63056" y="89611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F2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EXTREME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6163056" y="12984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익스트림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300216" y="1609344"/>
            <a:ext cx="2423160" cy="292608"/>
          </a:xfrm>
          <a:prstGeom prst="roundRect">
            <a:avLst>
              <a:gd name="adj" fmla="val 12500"/>
            </a:avLst>
          </a:prstGeom>
          <a:solidFill>
            <a:srgbClr val="FF2060">
              <a:alpha val="16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0216" y="16093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      ( 3개 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272784" y="2011680"/>
            <a:ext cx="2478024" cy="301752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27648" y="2066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속도 × 1.40  (매우 빠름)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72784" y="2359152"/>
            <a:ext cx="2478024" cy="301752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27648" y="24140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스폰량 × 1.45  (많음)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272784" y="2706624"/>
            <a:ext cx="2478024" cy="301752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27648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유도성 × 1.35  (강함)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272784" y="3054096"/>
            <a:ext cx="2478024" cy="301752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27648" y="31089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레벨업  8초마다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272784" y="3401568"/>
            <a:ext cx="2478024" cy="301752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27648" y="34564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점수 배율  × 1.5  (+서지보너스)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272784" y="3794760"/>
            <a:ext cx="2478024" cy="502920"/>
          </a:xfrm>
          <a:prstGeom prst="roundRect">
            <a:avLst>
              <a:gd name="adj" fmla="val 7273"/>
            </a:avLst>
          </a:prstGeom>
          <a:solidFill>
            <a:srgbClr val="FF2060">
              <a:alpha val="12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27648" y="382219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숙련자를 위한 최고 난이도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50초 이후 추가 난이도 폭발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272784" y="4425696"/>
            <a:ext cx="2478024" cy="274320"/>
          </a:xfrm>
          <a:prstGeom prst="roundRect">
            <a:avLst>
              <a:gd name="adj" fmla="val 13333"/>
            </a:avLst>
          </a:prstGeom>
          <a:solidFill>
            <a:srgbClr val="FF2060">
              <a:alpha val="25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72784" y="4425696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VETERANS ONLY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CC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생존 전략 &amp; 핵심 팁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57200" y="804672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0D0D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" y="969264"/>
            <a:ext cx="566928" cy="566928"/>
          </a:xfrm>
          <a:prstGeom prst="ellipse">
            <a:avLst/>
          </a:prstGeom>
          <a:solidFill>
            <a:srgbClr val="00FFB4">
              <a:alpha val="20000"/>
            </a:srgbClr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969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MOVE</a:t>
            </a:r>
          </a:p>
        </p:txBody>
      </p:sp>
      <p:sp>
        <p:nvSpPr>
          <p:cNvPr id="14" name="Text 12"/>
          <p:cNvSpPr/>
          <p:nvPr/>
        </p:nvSpPr>
        <p:spPr>
          <a:xfrm>
            <a:off x="1261872" y="896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지속 이동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61872" y="120700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멈추지 말고 항상 움직이세요.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장애물은 플레이어를 향해 유도됩니다.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804672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0D0D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28616" y="969264"/>
            <a:ext cx="566928" cy="566928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969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AIM</a:t>
            </a:r>
          </a:p>
        </p:txBody>
      </p:sp>
      <p:sp>
        <p:nvSpPr>
          <p:cNvPr id="19" name="Text 17"/>
          <p:cNvSpPr/>
          <p:nvPr/>
        </p:nvSpPr>
        <p:spPr>
          <a:xfrm>
            <a:off x="5605272" y="896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중앙 유지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05272" y="120700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중앙 부근에 있어야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어느 방향으로도 탈출할 수 있습니다.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1975104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0D0D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" y="2139696"/>
            <a:ext cx="566928" cy="566928"/>
          </a:xfrm>
          <a:prstGeom prst="ellipse">
            <a:avLst/>
          </a:prstGeom>
          <a:solidFill>
            <a:srgbClr val="FF9000">
              <a:alpha val="2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WAR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NING</a:t>
            </a:r>
          </a:p>
        </p:txBody>
      </p:sp>
      <p:sp>
        <p:nvSpPr>
          <p:cNvPr id="24" name="Text 22"/>
          <p:cNvSpPr/>
          <p:nvPr/>
        </p:nvSpPr>
        <p:spPr>
          <a:xfrm>
            <a:off x="1261872" y="2066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경고 즉시 반응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61872" y="23774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배너가 뜨는 순간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 지역으로 이동을 시작하세요!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00600" y="1975104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0D0D1A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28616" y="2139696"/>
            <a:ext cx="566928" cy="566928"/>
          </a:xfrm>
          <a:prstGeom prst="ellipse">
            <a:avLst/>
          </a:prstGeom>
          <a:solidFill>
            <a:srgbClr val="7C4DFF">
              <a:alpha val="2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2139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HIT</a:t>
            </a:r>
          </a:p>
        </p:txBody>
      </p:sp>
      <p:sp>
        <p:nvSpPr>
          <p:cNvPr id="29" name="Text 27"/>
          <p:cNvSpPr/>
          <p:nvPr/>
        </p:nvSpPr>
        <p:spPr>
          <a:xfrm>
            <a:off x="5605272" y="2066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무적 활용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05272" y="23774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피격 직후 깜빡일 때 위험 구역을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통과해 더 나은 위치로 이동하세요.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3145536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0D0D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" y="3310128"/>
            <a:ext cx="566928" cy="566928"/>
          </a:xfrm>
          <a:prstGeom prst="ellipse">
            <a:avLst/>
          </a:prstGeom>
          <a:solidFill>
            <a:srgbClr val="FF9000">
              <a:alpha val="20000"/>
            </a:srgbClr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" y="3310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LVL</a:t>
            </a:r>
          </a:p>
        </p:txBody>
      </p:sp>
      <p:sp>
        <p:nvSpPr>
          <p:cNvPr id="34" name="Text 32"/>
          <p:cNvSpPr/>
          <p:nvPr/>
        </p:nvSpPr>
        <p:spPr>
          <a:xfrm>
            <a:off x="1261872" y="32369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 대비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61872" y="354787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레벨이 올라갈수록 속도가 빨라집니다.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 여유 공간을 확보해 두세요.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00600" y="3145536"/>
            <a:ext cx="4114800" cy="1024128"/>
          </a:xfrm>
          <a:prstGeom prst="roundRect">
            <a:avLst>
              <a:gd name="adj" fmla="val 5357"/>
            </a:avLst>
          </a:prstGeom>
          <a:solidFill>
            <a:srgbClr val="0D0D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28616" y="3310128"/>
            <a:ext cx="566928" cy="566928"/>
          </a:xfrm>
          <a:prstGeom prst="ellipse">
            <a:avLst/>
          </a:prstGeom>
          <a:solidFill>
            <a:srgbClr val="FF2060">
              <a:alpha val="20000"/>
            </a:srgbClr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28616" y="3310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RAY</a:t>
            </a:r>
          </a:p>
        </p:txBody>
      </p:sp>
      <p:sp>
        <p:nvSpPr>
          <p:cNvPr id="39" name="Text 37"/>
          <p:cNvSpPr/>
          <p:nvPr/>
        </p:nvSpPr>
        <p:spPr>
          <a:xfrm>
            <a:off x="5605272" y="32369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레이저 암기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605272" y="354787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70초 후 레이저가 시작됩니다.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경고선 위치를 보고 즉시 반대편으로!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57200" y="448056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001510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5720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F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[READY]  이제 게임을 시작할 준비가 되었습니다! EVASION에서 살아남아 최고의 생존자가 되세요!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151520"/>
          </a:solidFill>
          <a:ln w="12700">
            <a:solidFill>
              <a:srgbClr val="151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97457" y="4398916"/>
            <a:ext cx="829383" cy="17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FF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 REFERENCE  —  한눈에 보기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96993" y="655844"/>
            <a:ext cx="3649287" cy="1032806"/>
          </a:xfrm>
          <a:prstGeom prst="roundRect">
            <a:avLst>
              <a:gd name="adj" fmla="val 5263"/>
            </a:avLst>
          </a:prstGeom>
          <a:solidFill>
            <a:srgbClr val="0D0D1A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649" y="696133"/>
            <a:ext cx="3400472" cy="222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[KEY] 조작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1881" y="956392"/>
            <a:ext cx="3616112" cy="307527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371" y="1004038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↑↓←→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89941" y="1004038"/>
            <a:ext cx="2073459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이동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1881" y="1340440"/>
            <a:ext cx="3616112" cy="307527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371" y="1388086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두 방향 동시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89941" y="1388086"/>
            <a:ext cx="2073459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대각선 이동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6993" y="1793805"/>
            <a:ext cx="3649287" cy="1775933"/>
          </a:xfrm>
          <a:prstGeom prst="roundRect">
            <a:avLst>
              <a:gd name="adj" fmla="val 3030"/>
            </a:avLst>
          </a:prstGeom>
          <a:solidFill>
            <a:srgbClr val="0D0D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8649" y="1815531"/>
            <a:ext cx="3400472" cy="222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이벤트</a:t>
            </a:r>
            <a:r>
              <a:rPr lang="en-US" sz="12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(10초)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1881" y="2043821"/>
            <a:ext cx="3616112" cy="307527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395" y="2091467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89941" y="2091467"/>
            <a:ext cx="2073459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일렬 파편 폭격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1881" y="2427869"/>
            <a:ext cx="3616112" cy="307527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395" y="2475515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METEOR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89941" y="2475515"/>
            <a:ext cx="2073459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대형 운석 유도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1881" y="2811917"/>
            <a:ext cx="3616112" cy="307527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395" y="2859563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89941" y="2859563"/>
            <a:ext cx="2073459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8방향 파편 산란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1881" y="3195965"/>
            <a:ext cx="3616112" cy="307527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395" y="3243611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GAMMA RAY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89941" y="3243611"/>
            <a:ext cx="2073459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70초↑ 레이저 (20초마다)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6993" y="3758354"/>
            <a:ext cx="3649287" cy="1332618"/>
          </a:xfrm>
          <a:prstGeom prst="roundRect">
            <a:avLst>
              <a:gd name="adj" fmla="val 3846"/>
            </a:avLst>
          </a:prstGeom>
          <a:solidFill>
            <a:srgbClr val="0D0D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8649" y="3773376"/>
            <a:ext cx="3400472" cy="222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[LIFE] 라이프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11881" y="4033636"/>
            <a:ext cx="3616112" cy="307527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6765" y="4081282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 / HARD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089941" y="4081282"/>
            <a:ext cx="2073459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라이프 5개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11881" y="4417684"/>
            <a:ext cx="3616112" cy="307527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6765" y="4465330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089941" y="4465330"/>
            <a:ext cx="2073459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라이프 3개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11881" y="4801732"/>
            <a:ext cx="3616112" cy="245755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6765" y="4849378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피격 후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089941" y="4849378"/>
            <a:ext cx="2073459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1.8초 무적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03233" y="610770"/>
            <a:ext cx="3649287" cy="1403968"/>
          </a:xfrm>
          <a:prstGeom prst="roundRect">
            <a:avLst>
              <a:gd name="adj" fmla="val 3846"/>
            </a:avLst>
          </a:prstGeom>
          <a:solidFill>
            <a:srgbClr val="0D0D1A"/>
          </a:solidFill>
          <a:ln w="12700">
            <a:solidFill>
              <a:srgbClr val="00FFB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4889" y="638581"/>
            <a:ext cx="3400472" cy="222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[SCORE] 점수 계산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918121" y="886052"/>
            <a:ext cx="3616112" cy="307527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62871" y="933698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기본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65765" y="933698"/>
            <a:ext cx="2222748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생존시간 × 10 × (1+레벨×0.1)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918121" y="1270100"/>
            <a:ext cx="3616112" cy="307527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62871" y="1317746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난이도 배율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65765" y="1317746"/>
            <a:ext cx="2222748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×0.7 / HARD ×1.0 / EXT ×1.5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918121" y="1654148"/>
            <a:ext cx="3616112" cy="307527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62871" y="1701794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서지 보너스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265765" y="1701794"/>
            <a:ext cx="2222748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50초↑ 추가 ×1.3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903233" y="2203743"/>
            <a:ext cx="3649287" cy="1332618"/>
          </a:xfrm>
          <a:prstGeom prst="roundRect">
            <a:avLst>
              <a:gd name="adj" fmla="val 3846"/>
            </a:avLst>
          </a:prstGeom>
          <a:solidFill>
            <a:srgbClr val="0D0D1A"/>
          </a:solidFill>
          <a:ln w="12700">
            <a:solidFill>
              <a:srgbClr val="FF9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14889" y="2237947"/>
            <a:ext cx="3400472" cy="222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난이도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918121" y="2479025"/>
            <a:ext cx="3616112" cy="307527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09399" y="2526671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265765" y="2526671"/>
            <a:ext cx="2222748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×0.7 / 스폰 ×0.65 / 16초 레벨업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918121" y="2863073"/>
            <a:ext cx="3616112" cy="307527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09399" y="2910719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265765" y="2910719"/>
            <a:ext cx="2222748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×1.0 / 스폰 ×1.0 / 12초 레벨업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918121" y="3247122"/>
            <a:ext cx="3616112" cy="252664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09399" y="3294767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9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265765" y="3294767"/>
            <a:ext cx="2222748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×1.4 / 스폰 ×1.45 / 8초 레벨업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903233" y="3758354"/>
            <a:ext cx="3649287" cy="1332618"/>
          </a:xfrm>
          <a:prstGeom prst="roundRect">
            <a:avLst>
              <a:gd name="adj" fmla="val 3846"/>
            </a:avLst>
          </a:prstGeom>
          <a:solidFill>
            <a:srgbClr val="0D0D1A"/>
          </a:solidFill>
          <a:ln w="12700">
            <a:solidFill>
              <a:srgbClr val="FF206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14889" y="3779770"/>
            <a:ext cx="3400472" cy="222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EXTREME 서지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918121" y="4033636"/>
            <a:ext cx="3616112" cy="307527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8581" y="4081282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발동 조건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265765" y="4081282"/>
            <a:ext cx="2222748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50초 생존 시 자동 발동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918121" y="4417684"/>
            <a:ext cx="3616112" cy="307527"/>
          </a:xfrm>
          <a:prstGeom prst="rect">
            <a:avLst/>
          </a:prstGeom>
          <a:solidFill>
            <a:srgbClr val="0A0A0F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8581" y="4465330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효과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265765" y="4465330"/>
            <a:ext cx="2222748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수치 × 1.5 추가 상승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918121" y="4801733"/>
            <a:ext cx="3616112" cy="252664"/>
          </a:xfrm>
          <a:prstGeom prst="rect">
            <a:avLst/>
          </a:prstGeom>
          <a:solidFill>
            <a:srgbClr val="0D0D1A"/>
          </a:solidFill>
          <a:ln w="12700">
            <a:solidFill>
              <a:srgbClr val="8888B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8581" y="4849378"/>
            <a:ext cx="1244075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2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경고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6265765" y="4849378"/>
            <a:ext cx="2222748" cy="205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빨간 펄스 2초 후 시작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894</Words>
  <Application>Microsoft Office PowerPoint</Application>
  <PresentationFormat>화면 슬라이드 쇼(16:9)</PresentationFormat>
  <Paragraphs>241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맑은 고딕</vt:lpstr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EVASION — 플레이어 가이드</dc:title>
  <dc:subject>PptxGenJS Presentation</dc:subject>
  <dc:creator>PptxGenJS</dc:creator>
  <cp:lastModifiedBy>user</cp:lastModifiedBy>
  <cp:revision>4</cp:revision>
  <dcterms:created xsi:type="dcterms:W3CDTF">2026-05-29T00:48:29Z</dcterms:created>
  <dcterms:modified xsi:type="dcterms:W3CDTF">2026-05-29T01:11:56Z</dcterms:modified>
</cp:coreProperties>
</file>